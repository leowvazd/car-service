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8" r:id="rId5"/>
    <p:sldMasterId id="2147483684" r:id="rId6"/>
    <p:sldMasterId id="2147483661" r:id="rId7"/>
    <p:sldMasterId id="2147483681" r:id="rId8"/>
  </p:sldMasterIdLst>
  <p:notesMasterIdLst>
    <p:notesMasterId r:id="rId20"/>
  </p:notesMasterIdLst>
  <p:handoutMasterIdLst>
    <p:handoutMasterId r:id="rId21"/>
  </p:handoutMasterIdLst>
  <p:sldIdLst>
    <p:sldId id="256" r:id="rId9"/>
    <p:sldId id="265" r:id="rId10"/>
    <p:sldId id="267" r:id="rId12"/>
    <p:sldId id="272" r:id="rId16"/>
    <p:sldId id="268" r:id="rId13"/>
    <p:sldId id="270" r:id="rId15"/>
    <p:sldId id="277" r:id="rId36"/>
    <p:sldId id="276" r:id="rId14"/>
    <p:sldId id="278" r:id="rId37"/>
    <p:sldId id="280" r:id="rId39"/>
    <p:sldId id="266" r:id="rId11"/>
    <p:sldId id="281" r:id="rId40"/>
    <p:sldId id="279" r:id="rId38"/>
    <p:sldId id="274" r:id="rId17"/>
    <p:sldId id="271" r:id="rId19"/>
  </p:sldIdLst>
  <p:sldSz cx="12192000" cy="6858000"/>
  <p:notesSz cx="6858000" cy="9144000"/>
  <p:embeddedFontLst>
    <p:embeddedFont>
      <p:font typeface="IBM Plex Sans" panose="020B0503050203000203" pitchFamily="34" charset="0"/>
      <p:regular r:id="rId22"/>
      <p:bold r:id="rId23"/>
      <p:italic r:id="rId24"/>
      <p:boldItalic r:id="rId25"/>
    </p:embeddedFont>
    <p:embeddedFont>
      <p:font typeface="IBM Plex Sans Medium" panose="020B0603050203000203" pitchFamily="34" charset="0"/>
      <p:regular r:id="rId26"/>
      <p:italic r:id="rId27"/>
    </p:embeddedFont>
    <p:embeddedFont>
      <p:font typeface="Muli SemiBold" panose="020B0604020202020204" charset="0"/>
      <p:bold r:id="rId28"/>
      <p:boldItalic r:id="rId2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0D1"/>
    <a:srgbClr val="00242C"/>
    <a:srgbClr val="23B6BD"/>
    <a:srgbClr val="E74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10-21T10:47:04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11.xml"/><Relationship Id="rId12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8.xml"/><Relationship Id="rId15" Type="http://schemas.openxmlformats.org/officeDocument/2006/relationships/slide" Target="slides/slide6.xml"/><Relationship Id="rId16" Type="http://schemas.openxmlformats.org/officeDocument/2006/relationships/slide" Target="slides/slide4.xml"/><Relationship Id="rId17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7.xml"/><Relationship Id="rId37" Type="http://schemas.openxmlformats.org/officeDocument/2006/relationships/slide" Target="slides/slide9.xml"/><Relationship Id="rId38" Type="http://schemas.openxmlformats.org/officeDocument/2006/relationships/slide" Target="slides/slide13.xml"/><Relationship Id="rId39" Type="http://schemas.openxmlformats.org/officeDocument/2006/relationships/slide" Target="slides/slide10.xml"/><Relationship Id="rId40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Lourenço" userId="S::leonardol@agap2.pt::4158aeab-cd99-461e-b53e-afad15b9196d" providerId="AD" clId="Web-{00000000-0000-0000-0000-000000000000}"/>
    <pc:docChg chg="modSld">
      <pc:chgData name="Leonardo Lourenço" userId="S::leonardol@agap2.pt::4158aeab-cd99-461e-b53e-afad15b9196d" providerId="AD" clId="Web-{00000000-0000-0000-0000-000000000000}" dt="2026-10-21T10:47:04.938" v="9" actId="20577"/>
      <pc:docMkLst>
        <pc:docMk/>
      </pc:docMkLst>
      <pc:sldChg chg="modSp">
        <pc:chgData name="Leonardo Lourenço" userId="S::leonardol@agap2.pt::4158aeab-cd99-461e-b53e-afad15b9196d" providerId="AD" clId="Web-{00000000-0000-0000-0000-000000000000}" dt="2026-10-21T10:46:24.561" v="1" actId="20577"/>
        <pc:sldMkLst>
          <pc:docMk/>
          <pc:sldMk cId="3724649949" sldId="266"/>
        </pc:sldMkLst>
        <pc:spChg chg="mod">
          <ac:chgData name="Leonardo Lourenço" userId="S::leonardol@agap2.pt::4158aeab-cd99-461e-b53e-afad15b9196d" providerId="AD" clId="Web-{00000000-0000-0000-0000-000000000000}" dt="2026-10-21T10:46:24.561" v="1" actId="20577"/>
          <ac:spMkLst>
            <pc:docMk/>
            <pc:sldMk cId="3724649949" sldId="266"/>
            <ac:spMk id="4" creationId="{539AA983-7116-4F9A-AD80-BC0B6D40A581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6:32.687" v="3" actId="20577"/>
        <pc:sldMkLst>
          <pc:docMk/>
          <pc:sldMk cId="2955233871" sldId="267"/>
        </pc:sldMkLst>
        <pc:spChg chg="mod">
          <ac:chgData name="Leonardo Lourenço" userId="S::leonardol@agap2.pt::4158aeab-cd99-461e-b53e-afad15b9196d" providerId="AD" clId="Web-{00000000-0000-0000-0000-000000000000}" dt="2026-10-21T10:46:32.687" v="3" actId="20577"/>
          <ac:spMkLst>
            <pc:docMk/>
            <pc:sldMk cId="2955233871" sldId="267"/>
            <ac:spMk id="4" creationId="{FCA491FC-A248-4800-A191-D5CCB814F1E9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6:38.109" v="4" actId="20577"/>
        <pc:sldMkLst>
          <pc:docMk/>
          <pc:sldMk cId="3900990145" sldId="268"/>
        </pc:sldMkLst>
        <pc:spChg chg="mod">
          <ac:chgData name="Leonardo Lourenço" userId="S::leonardol@agap2.pt::4158aeab-cd99-461e-b53e-afad15b9196d" providerId="AD" clId="Web-{00000000-0000-0000-0000-000000000000}" dt="2026-10-21T10:46:38.109" v="4" actId="20577"/>
          <ac:spMkLst>
            <pc:docMk/>
            <pc:sldMk cId="3900990145" sldId="268"/>
            <ac:spMk id="3" creationId="{01B790D2-0175-4946-8DA1-E91EECF8437A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6:50.078" v="6" actId="20577"/>
        <pc:sldMkLst>
          <pc:docMk/>
          <pc:sldMk cId="821311181" sldId="270"/>
        </pc:sldMkLst>
        <pc:spChg chg="mod">
          <ac:chgData name="Leonardo Lourenço" userId="S::leonardol@agap2.pt::4158aeab-cd99-461e-b53e-afad15b9196d" providerId="AD" clId="Web-{00000000-0000-0000-0000-000000000000}" dt="2026-10-21T10:46:50.078" v="6" actId="20577"/>
          <ac:spMkLst>
            <pc:docMk/>
            <pc:sldMk cId="821311181" sldId="270"/>
            <ac:spMk id="5" creationId="{767DA683-B3A4-49B5-AFC3-3D70F9C31377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6:55.360" v="7" actId="20577"/>
        <pc:sldMkLst>
          <pc:docMk/>
          <pc:sldMk cId="3250598065" sldId="272"/>
        </pc:sldMkLst>
        <pc:spChg chg="mod">
          <ac:chgData name="Leonardo Lourenço" userId="S::leonardol@agap2.pt::4158aeab-cd99-461e-b53e-afad15b9196d" providerId="AD" clId="Web-{00000000-0000-0000-0000-000000000000}" dt="2026-10-21T10:46:55.360" v="7" actId="20577"/>
          <ac:spMkLst>
            <pc:docMk/>
            <pc:sldMk cId="3250598065" sldId="272"/>
            <ac:spMk id="5" creationId="{21448959-7CD3-45C0-8B67-17B17BBE5E49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7:00.204" v="8" actId="20577"/>
        <pc:sldMkLst>
          <pc:docMk/>
          <pc:sldMk cId="235506312" sldId="274"/>
        </pc:sldMkLst>
        <pc:spChg chg="mod">
          <ac:chgData name="Leonardo Lourenço" userId="S::leonardol@agap2.pt::4158aeab-cd99-461e-b53e-afad15b9196d" providerId="AD" clId="Web-{00000000-0000-0000-0000-000000000000}" dt="2026-10-21T10:47:00.204" v="8" actId="20577"/>
          <ac:spMkLst>
            <pc:docMk/>
            <pc:sldMk cId="235506312" sldId="274"/>
            <ac:spMk id="5" creationId="{3B8269E7-B6CB-4B00-8B32-AA73CCB82CA9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7:04.938" v="9" actId="20577"/>
        <pc:sldMkLst>
          <pc:docMk/>
          <pc:sldMk cId="1534070773" sldId="275"/>
        </pc:sldMkLst>
        <pc:spChg chg="mod">
          <ac:chgData name="Leonardo Lourenço" userId="S::leonardol@agap2.pt::4158aeab-cd99-461e-b53e-afad15b9196d" providerId="AD" clId="Web-{00000000-0000-0000-0000-000000000000}" dt="2026-10-21T10:47:04.938" v="9" actId="20577"/>
          <ac:spMkLst>
            <pc:docMk/>
            <pc:sldMk cId="1534070773" sldId="275"/>
            <ac:spMk id="6" creationId="{7FD16302-32A5-4944-998E-AD606D7D880F}"/>
          </ac:spMkLst>
        </pc:spChg>
      </pc:sldChg>
      <pc:sldChg chg="modSp">
        <pc:chgData name="Leonardo Lourenço" userId="S::leonardol@agap2.pt::4158aeab-cd99-461e-b53e-afad15b9196d" providerId="AD" clId="Web-{00000000-0000-0000-0000-000000000000}" dt="2026-10-21T10:46:45.656" v="5" actId="20577"/>
        <pc:sldMkLst>
          <pc:docMk/>
          <pc:sldMk cId="1478502962" sldId="276"/>
        </pc:sldMkLst>
        <pc:spChg chg="mod">
          <ac:chgData name="Leonardo Lourenço" userId="S::leonardol@agap2.pt::4158aeab-cd99-461e-b53e-afad15b9196d" providerId="AD" clId="Web-{00000000-0000-0000-0000-000000000000}" dt="2026-10-21T10:46:45.656" v="5" actId="20577"/>
          <ac:spMkLst>
            <pc:docMk/>
            <pc:sldMk cId="1478502962" sldId="276"/>
            <ac:spMk id="3" creationId="{01B790D2-0175-4946-8DA1-E91EECF8437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09FCB3B-7A9E-4A33-8061-5E2A952973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B502FE-4665-4282-A643-72EEEF8685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4802B-8045-487B-9BA7-686A1319EE3D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7C1CE5-C164-44A9-9043-58076C82B8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6069D5-654F-4935-95A8-3A01E28532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02A86-43CE-4DDD-BCEC-22D021D8F9A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264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05B24-3600-49F9-AAA6-3369E75B8C7A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55BEA-4241-4B9F-B8C8-FBA84DE54B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38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log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06">
            <a:extLst>
              <a:ext uri="{FF2B5EF4-FFF2-40B4-BE49-F238E27FC236}">
                <a16:creationId xmlns:a16="http://schemas.microsoft.com/office/drawing/2014/main" id="{424519BC-A21C-47F7-A6DF-1C08CA8F4A2D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0227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" name="Moongy_baseline_MONO_RVB_BLEU_clair.png" descr="Moongy_baseline_MONO_RVB_BLEU_clair.png">
            <a:extLst>
              <a:ext uri="{FF2B5EF4-FFF2-40B4-BE49-F238E27FC236}">
                <a16:creationId xmlns:a16="http://schemas.microsoft.com/office/drawing/2014/main" id="{FE62B286-7CAC-4E7C-8377-C4A179302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20815" y="2291408"/>
            <a:ext cx="4550370" cy="22751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3123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logo Mediu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3B6B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8E7E830-7434-4D82-8773-3301F2C624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15" y="2291408"/>
            <a:ext cx="4550370" cy="22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7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logo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A4D0D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22E3069-AA27-496D-BDB1-2D37A3347D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15" y="2291407"/>
            <a:ext cx="4550370" cy="22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8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logo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E7411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8E7E830-7434-4D82-8773-3301F2C624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15" y="2291408"/>
            <a:ext cx="4550370" cy="22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6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06">
            <a:extLst>
              <a:ext uri="{FF2B5EF4-FFF2-40B4-BE49-F238E27FC236}">
                <a16:creationId xmlns:a16="http://schemas.microsoft.com/office/drawing/2014/main" id="{424519BC-A21C-47F7-A6DF-1C08CA8F4A2D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0227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EB9BE4-43E5-4F22-BA6F-F948B2A59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227" y="2856206"/>
            <a:ext cx="2291173" cy="1145587"/>
          </a:xfrm>
          <a:prstGeom prst="rect">
            <a:avLst/>
          </a:prstGeom>
        </p:spPr>
      </p:pic>
      <p:sp>
        <p:nvSpPr>
          <p:cNvPr id="8" name="Shape 319">
            <a:extLst>
              <a:ext uri="{FF2B5EF4-FFF2-40B4-BE49-F238E27FC236}">
                <a16:creationId xmlns:a16="http://schemas.microsoft.com/office/drawing/2014/main" id="{5893CCA1-2865-4997-B81C-2093913AA844}"/>
              </a:ext>
            </a:extLst>
          </p:cNvPr>
          <p:cNvSpPr/>
          <p:nvPr/>
        </p:nvSpPr>
        <p:spPr>
          <a:xfrm>
            <a:off x="4995458" y="3122262"/>
            <a:ext cx="0" cy="613476"/>
          </a:xfrm>
          <a:prstGeom prst="line">
            <a:avLst/>
          </a:prstGeom>
          <a:ln w="25400">
            <a:solidFill>
              <a:srgbClr val="A4D0D1"/>
            </a:solidFill>
            <a:miter/>
          </a:ln>
        </p:spPr>
        <p:txBody>
          <a:bodyPr lIns="0" tIns="0" rIns="0" bIns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C1AA72-8BBC-417D-AD73-F0E23BEA3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84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Mediu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3B6B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3C378D2-CA9A-4487-AC3F-834615FA561C}"/>
              </a:ext>
            </a:extLst>
          </p:cNvPr>
          <p:cNvGrpSpPr/>
          <p:nvPr userDrawn="1"/>
        </p:nvGrpSpPr>
        <p:grpSpPr>
          <a:xfrm>
            <a:off x="2778170" y="2874678"/>
            <a:ext cx="2217288" cy="1108644"/>
            <a:chOff x="2536047" y="3142718"/>
            <a:chExt cx="2217288" cy="1108644"/>
          </a:xfrm>
        </p:grpSpPr>
        <p:sp>
          <p:nvSpPr>
            <p:cNvPr id="6" name="Shape 319">
              <a:extLst>
                <a:ext uri="{FF2B5EF4-FFF2-40B4-BE49-F238E27FC236}">
                  <a16:creationId xmlns:a16="http://schemas.microsoft.com/office/drawing/2014/main" id="{09DB9D4C-FBAE-4681-BF8B-147FBB551F04}"/>
                </a:ext>
              </a:extLst>
            </p:cNvPr>
            <p:cNvSpPr/>
            <p:nvPr/>
          </p:nvSpPr>
          <p:spPr>
            <a:xfrm>
              <a:off x="4753335" y="3390302"/>
              <a:ext cx="0" cy="613476"/>
            </a:xfrm>
            <a:prstGeom prst="line">
              <a:avLst/>
            </a:prstGeom>
            <a:ln w="25400">
              <a:solidFill>
                <a:schemeClr val="bg1"/>
              </a:solidFill>
              <a:miter/>
            </a:ln>
          </p:spPr>
          <p:txBody>
            <a:bodyPr lIns="0" tIns="0" rIns="0" bIns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9EF9E000-DB99-42DE-9ADF-B90D1DD507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6047" y="3142718"/>
              <a:ext cx="2217288" cy="1108644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669745D-5A02-4C57-BC2E-08462E7D4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776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A4D0D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D1A1AB1-7980-43CF-866C-B923D8DC1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170" y="2874678"/>
            <a:ext cx="2217288" cy="1108644"/>
          </a:xfrm>
          <a:prstGeom prst="rect">
            <a:avLst/>
          </a:prstGeom>
        </p:spPr>
      </p:pic>
      <p:sp>
        <p:nvSpPr>
          <p:cNvPr id="6" name="Shape 319">
            <a:extLst>
              <a:ext uri="{FF2B5EF4-FFF2-40B4-BE49-F238E27FC236}">
                <a16:creationId xmlns:a16="http://schemas.microsoft.com/office/drawing/2014/main" id="{0A707A23-65FD-4D2F-9FBA-2232F2F9EAE4}"/>
              </a:ext>
            </a:extLst>
          </p:cNvPr>
          <p:cNvSpPr/>
          <p:nvPr/>
        </p:nvSpPr>
        <p:spPr>
          <a:xfrm>
            <a:off x="4995458" y="3122262"/>
            <a:ext cx="0" cy="613476"/>
          </a:xfrm>
          <a:prstGeom prst="line">
            <a:avLst/>
          </a:prstGeom>
          <a:ln w="25400">
            <a:solidFill>
              <a:srgbClr val="00242C"/>
            </a:solidFill>
            <a:miter/>
          </a:ln>
        </p:spPr>
        <p:txBody>
          <a:bodyPr lIns="0" tIns="0" rIns="0" bIns="0"/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CA0B9F-80E2-4C1F-9ECE-B74BBF5B5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42C"/>
                </a:solidFill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283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3142EB5E-F16D-47C0-B9F3-25E95AB1C5A3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E7411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660A505-F751-4005-BF26-E2F9E1A0C68E}"/>
              </a:ext>
            </a:extLst>
          </p:cNvPr>
          <p:cNvGrpSpPr/>
          <p:nvPr userDrawn="1"/>
        </p:nvGrpSpPr>
        <p:grpSpPr>
          <a:xfrm>
            <a:off x="2778170" y="2874678"/>
            <a:ext cx="2217288" cy="1108644"/>
            <a:chOff x="2536047" y="3142718"/>
            <a:chExt cx="2217288" cy="1108644"/>
          </a:xfrm>
        </p:grpSpPr>
        <p:sp>
          <p:nvSpPr>
            <p:cNvPr id="6" name="Shape 319">
              <a:extLst>
                <a:ext uri="{FF2B5EF4-FFF2-40B4-BE49-F238E27FC236}">
                  <a16:creationId xmlns:a16="http://schemas.microsoft.com/office/drawing/2014/main" id="{A4F28E2E-B940-41A4-9402-EFBA94443CBF}"/>
                </a:ext>
              </a:extLst>
            </p:cNvPr>
            <p:cNvSpPr/>
            <p:nvPr/>
          </p:nvSpPr>
          <p:spPr>
            <a:xfrm>
              <a:off x="4753335" y="3390302"/>
              <a:ext cx="0" cy="613476"/>
            </a:xfrm>
            <a:prstGeom prst="line">
              <a:avLst/>
            </a:prstGeom>
            <a:ln w="25400">
              <a:solidFill>
                <a:schemeClr val="bg1"/>
              </a:solidFill>
              <a:miter/>
            </a:ln>
          </p:spPr>
          <p:txBody>
            <a:bodyPr lIns="0" tIns="0" rIns="0" bIns="0"/>
            <a:lstStyle/>
            <a:p>
              <a:endParaRPr>
                <a:solidFill>
                  <a:schemeClr val="bg1"/>
                </a:solidFill>
              </a:endParaRP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CF3E981C-B645-44B0-9668-278FD0650A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6047" y="3142718"/>
              <a:ext cx="2217288" cy="1108644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903BFCF-B0BC-4597-A5D5-472A63B06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596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C197E-AD4B-42D9-813F-A8902BA3FD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IBM Plex Sans Medium" panose="020B0603050203000203" pitchFamily="34" charset="0"/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25B71-1772-4E08-9278-EC1962077A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8897"/>
            <a:ext cx="10515600" cy="475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IBM Plex Sans" panose="020B050305020300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 err="1"/>
              <a:t>Inserir</a:t>
            </a:r>
            <a:r>
              <a:rPr lang="fr-FR" dirty="0"/>
              <a:t> texto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6C2C35E-DCC9-445E-8092-5D9E113B41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89" y="6150481"/>
            <a:ext cx="1528322" cy="764161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0BF3AD-D830-4D69-83D6-C780A780D0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898471"/>
            <a:ext cx="105156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23B6BD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fr-FR" dirty="0" err="1"/>
              <a:t>Sub-título</a:t>
            </a:r>
            <a:endParaRPr lang="fr-FR" dirty="0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76A7A32-014A-48DE-BEF0-AE7BB2212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BC0D1D83-2D85-4D09-AD23-A75561CCF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70894-A539-4611-80D5-A6E57CD7A11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40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ciel, extérieur, herbe, nature&#10;&#10;Description générée automatiquement">
            <a:extLst>
              <a:ext uri="{FF2B5EF4-FFF2-40B4-BE49-F238E27FC236}">
                <a16:creationId xmlns:a16="http://schemas.microsoft.com/office/drawing/2014/main" id="{38A7FAAC-7E02-4AB1-9BE9-601A961833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2" r="29982"/>
          <a:stretch/>
        </p:blipFill>
        <p:spPr>
          <a:xfrm>
            <a:off x="8077198" y="0"/>
            <a:ext cx="4114802" cy="68580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25B71-1772-4E08-9278-EC1962077A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50428"/>
            <a:ext cx="7000875" cy="47265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IBM Plex Sans" panose="020B050305020300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 err="1"/>
              <a:t>Inserir</a:t>
            </a:r>
            <a:r>
              <a:rPr lang="fr-FR" dirty="0"/>
              <a:t> texto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D82F926-35BA-4B2A-AD55-A6E0518F6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000875" cy="52562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CECFD42F-E5EB-4139-930C-66D274170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906519"/>
            <a:ext cx="7000875" cy="378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23B6BD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fr-FR" dirty="0" err="1"/>
              <a:t>Sub-título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C699DD9-484F-4669-A5D0-09B3C3C42D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89" y="6142870"/>
            <a:ext cx="1528322" cy="764161"/>
          </a:xfrm>
          <a:prstGeom prst="rect">
            <a:avLst/>
          </a:prstGeom>
        </p:spPr>
      </p:pic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AF8822A3-A1B7-4F23-A9A9-41FB2F610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942D9FC4-BD20-41FD-95DA-B84433EE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70894-A539-4611-80D5-A6E57CD7A11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478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977EE15-7D78-419A-991C-1C67AEE790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77200" y="0"/>
            <a:ext cx="4114800" cy="68580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25B71-1772-4E08-9278-EC1962077A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42545"/>
            <a:ext cx="7000875" cy="4734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IBM Plex Sans" panose="020B050305020300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 err="1"/>
              <a:t>Inserir</a:t>
            </a:r>
            <a:r>
              <a:rPr lang="fr-FR" dirty="0"/>
              <a:t> texto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C8543E5-9ED3-4ED7-99EE-FE065035C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000875" cy="52562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61D2AE2B-B892-4B18-BE70-ED6084E3CC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906519"/>
            <a:ext cx="7000875" cy="378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23B6BD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fr-FR" dirty="0" err="1"/>
              <a:t>Sub-título</a:t>
            </a:r>
            <a:endParaRPr lang="fr-FR" dirty="0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9CE5AF2B-FE02-41DC-8D40-37579CE34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E3967FB1-A481-46D1-AF6F-785B376D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70894-A539-4611-80D5-A6E57CD7A11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4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AF34D8-46ED-4CB6-8F07-6407A1D80CE1}"/>
              </a:ext>
            </a:extLst>
          </p:cNvPr>
          <p:cNvSpPr/>
          <p:nvPr userDrawn="1"/>
        </p:nvSpPr>
        <p:spPr>
          <a:xfrm>
            <a:off x="6096000" y="0"/>
            <a:ext cx="6096000" cy="6856232"/>
          </a:xfrm>
          <a:prstGeom prst="rect">
            <a:avLst/>
          </a:prstGeom>
          <a:solidFill>
            <a:srgbClr val="23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25B71-1772-4E08-9278-EC1962077A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8897"/>
            <a:ext cx="5034455" cy="475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IBM Plex Sans" panose="020B050305020300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 err="1"/>
              <a:t>Inserir</a:t>
            </a:r>
            <a:r>
              <a:rPr lang="fr-FR" dirty="0"/>
              <a:t> texto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8FE7022-A2E0-4AC7-BD64-C9ADF0FF9F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0000"/>
            <a:ext cx="2743200" cy="365125"/>
          </a:xfrm>
        </p:spPr>
        <p:txBody>
          <a:bodyPr/>
          <a:lstStyle/>
          <a:p>
            <a:r>
              <a:rPr lang="fr-FR" dirty="0"/>
              <a:t>MoOngy 2021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BC4485D-27A1-444E-B81E-E8A63FDBB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686176" y="6350000"/>
            <a:ext cx="218648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2B8B59DD-F481-4605-8AC8-772CE9F5B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906519"/>
            <a:ext cx="5034455" cy="378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23B6BD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fr-FR" dirty="0" err="1"/>
              <a:t>Sub-título</a:t>
            </a:r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6FE77E7-495E-4C46-9F2C-FB934B51F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034455" cy="52562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F0ADB13-DE0F-441A-8381-543AC5B49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89" y="6142870"/>
            <a:ext cx="1528322" cy="76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01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A48746-E66D-44DD-8EF6-CC81D1226E70}"/>
              </a:ext>
            </a:extLst>
          </p:cNvPr>
          <p:cNvSpPr/>
          <p:nvPr userDrawn="1"/>
        </p:nvSpPr>
        <p:spPr>
          <a:xfrm>
            <a:off x="0" y="1768"/>
            <a:ext cx="4114800" cy="6856232"/>
          </a:xfrm>
          <a:prstGeom prst="rect">
            <a:avLst/>
          </a:prstGeom>
          <a:solidFill>
            <a:srgbClr val="022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AEA4F1-A77B-494E-9F40-29210D82AC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432300" y="6350000"/>
            <a:ext cx="3327398" cy="365125"/>
          </a:xfrm>
        </p:spPr>
        <p:txBody>
          <a:bodyPr/>
          <a:lstStyle/>
          <a:p>
            <a:r>
              <a:rPr lang="fr-FR" dirty="0"/>
              <a:t>MoOngy 2021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B55B78-E15B-46C7-B96D-4211AD462D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81949" y="6350000"/>
            <a:ext cx="1628775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1390177-2BE3-4500-B21A-8D03DFD42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2300" y="1418897"/>
            <a:ext cx="6921500" cy="475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IBM Plex Sans" panose="020B050305020300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 err="1"/>
              <a:t>Inserir</a:t>
            </a:r>
            <a:r>
              <a:rPr lang="fr-FR" dirty="0"/>
              <a:t> texto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DA217FF-0E27-42F9-BDC5-D41F5CA73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89" y="6150481"/>
            <a:ext cx="1528322" cy="764161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DF2BDF39-0134-4BC7-AD84-72A3391303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2298" y="365125"/>
            <a:ext cx="6921502" cy="52562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2D20C30B-4010-4FC7-B3CB-F852880ABB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2298" y="906519"/>
            <a:ext cx="6921500" cy="378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23B6BD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fr-FR" dirty="0" err="1"/>
              <a:t>Sub-título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196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E042B08F-5D5A-4F01-85BC-80553300DF9D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0227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C0C6091-3EC1-4AB9-B87A-9ECA42BF72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522304"/>
            <a:ext cx="3048000" cy="2335696"/>
          </a:xfrm>
          <a:prstGeom prst="rect">
            <a:avLst/>
          </a:prstGeom>
        </p:spPr>
      </p:pic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ECD35630-B9BD-489D-984D-2E935DC58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A4D0D1"/>
                </a:solidFill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68E152C1-5362-4C13-977F-86E7D1E348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A4D0D1"/>
                </a:solidFill>
              </a:defRPr>
            </a:lvl1pPr>
          </a:lstStyle>
          <a:p>
            <a:fld id="{93B8DD49-7374-4680-9540-E85164E6801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CAF751-D6C3-430F-A195-7C93EE38F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A4D0D1"/>
                </a:solidFill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923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Mediu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06">
            <a:extLst>
              <a:ext uri="{FF2B5EF4-FFF2-40B4-BE49-F238E27FC236}">
                <a16:creationId xmlns:a16="http://schemas.microsoft.com/office/drawing/2014/main" id="{A20556DD-20D3-41AB-A382-B288EAB8383C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3B6B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C0C6091-3EC1-4AB9-B87A-9ECA42BF72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522304"/>
            <a:ext cx="3048000" cy="2335696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5688262-F08D-4887-95DC-718DB988A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57DD92F2-43B6-475D-94B0-ABA948F1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MoOngy 2021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6AAA3D0-EFCC-489E-9121-2345036AD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1034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06">
            <a:extLst>
              <a:ext uri="{FF2B5EF4-FFF2-40B4-BE49-F238E27FC236}">
                <a16:creationId xmlns:a16="http://schemas.microsoft.com/office/drawing/2014/main" id="{A20556DD-20D3-41AB-A382-B288EAB8383C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A4D0D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C0C6091-3EC1-4AB9-B87A-9ECA42BF72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522304"/>
            <a:ext cx="3048000" cy="2335696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7552C76-F86E-4460-B90A-B87FCB924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242C"/>
                </a:solidFill>
              </a:defRPr>
            </a:lvl1pPr>
          </a:lstStyle>
          <a:p>
            <a:fld id="{93B8DD49-7374-4680-9540-E85164E6801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68A573C-D0E2-4679-9D96-32A28450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42C"/>
                </a:solidFill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7749825-839C-4EF2-AF6D-1D455B0A9A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42C"/>
                </a:solidFill>
              </a:defRPr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1525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06">
            <a:extLst>
              <a:ext uri="{FF2B5EF4-FFF2-40B4-BE49-F238E27FC236}">
                <a16:creationId xmlns:a16="http://schemas.microsoft.com/office/drawing/2014/main" id="{A20556DD-20D3-41AB-A382-B288EAB8383C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E7411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C0C6091-3EC1-4AB9-B87A-9ECA42BF72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522304"/>
            <a:ext cx="3048000" cy="2335696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3D82D5F-F37D-4700-9D85-0316D502D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0B7F7E-2263-402A-A63C-2D689354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MoOngy 2021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E032739-9B92-46A0-9578-2E3511C8F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7159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978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5.xml"/><Relationship Id="rId3" Type="http://schemas.openxmlformats.org/officeDocument/2006/relationships/image" Target="../media/image11.sv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1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66" r:id="rId3"/>
    <p:sldLayoutId id="214748366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itre 8">
            <a:extLst>
              <a:ext uri="{FF2B5EF4-FFF2-40B4-BE49-F238E27FC236}">
                <a16:creationId xmlns:a16="http://schemas.microsoft.com/office/drawing/2014/main" id="{1FF7F181-9291-4B22-B725-3F32BC89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44" y="2737296"/>
            <a:ext cx="55328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err="1"/>
              <a:t>Título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125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lang="fr-FR" sz="1800" kern="1200" spc="300" dirty="0">
          <a:solidFill>
            <a:srgbClr val="A4D0D1"/>
          </a:solidFill>
          <a:latin typeface="IBM Plex Sans Medium" panose="020B06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F3529E-4DBF-412C-A511-F0319695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5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err="1"/>
              <a:t>Colocar</a:t>
            </a:r>
            <a:r>
              <a:rPr lang="fr-FR" dirty="0"/>
              <a:t> </a:t>
            </a:r>
            <a:r>
              <a:rPr lang="fr-FR" dirty="0" err="1"/>
              <a:t>título</a:t>
            </a:r>
            <a:r>
              <a:rPr lang="fr-FR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6405D1-48F3-4CE6-B9A1-6C952F28A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fr-FR" dirty="0"/>
              <a:t>MoOngy 2021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781B31-1218-4558-B55B-CDA6F08A6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70894-A539-4611-80D5-A6E57CD7A11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763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1" r:id="rId3"/>
    <p:sldLayoutId id="2147483688" r:id="rId4"/>
    <p:sldLayoutId id="214748368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E74111"/>
          </a:solidFill>
          <a:latin typeface="IBM Plex Sans Medium" panose="020B06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5EEDAC0-0329-40BA-B2D5-27CD20B0A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766219"/>
            <a:ext cx="73151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0D6CD7-7832-4DE2-93C5-36930F2D9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93B8DD49-7374-4680-9540-E85164E6801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C6792B8-072D-44BC-80EB-505E5649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fr-FR" dirty="0"/>
              <a:t>MoOngy 2021</a:t>
            </a:r>
          </a:p>
        </p:txBody>
      </p:sp>
    </p:spTree>
    <p:extLst>
      <p:ext uri="{BB962C8B-B14F-4D97-AF65-F5344CB8AC3E}">
        <p14:creationId xmlns:p14="http://schemas.microsoft.com/office/powerpoint/2010/main" val="325529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2" r:id="rId2"/>
    <p:sldLayoutId id="2147483664" r:id="rId3"/>
    <p:sldLayoutId id="2147483663" r:id="rId4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spc="300">
          <a:solidFill>
            <a:schemeClr val="bg1"/>
          </a:solidFill>
          <a:latin typeface="Muli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06">
            <a:extLst>
              <a:ext uri="{FF2B5EF4-FFF2-40B4-BE49-F238E27FC236}">
                <a16:creationId xmlns:a16="http://schemas.microsoft.com/office/drawing/2014/main" id="{625E118A-B45B-42A9-9DEA-6C3C06E59524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A4D0D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171F7936-78CA-429B-A602-951ED64FA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22304"/>
            <a:ext cx="3048000" cy="23356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AB89692-8FD9-43AE-BC34-3DB0296381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057" y="1777057"/>
            <a:ext cx="3303886" cy="1651943"/>
          </a:xfrm>
          <a:prstGeom prst="rect">
            <a:avLst/>
          </a:prstGeom>
        </p:spPr>
      </p:pic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91452F7C-6A38-4EE4-8461-2067A0F3E95F}"/>
              </a:ext>
            </a:extLst>
          </p:cNvPr>
          <p:cNvSpPr txBox="1">
            <a:spLocks/>
          </p:cNvSpPr>
          <p:nvPr userDrawn="1"/>
        </p:nvSpPr>
        <p:spPr>
          <a:xfrm>
            <a:off x="2871787" y="3360738"/>
            <a:ext cx="6448425" cy="1649412"/>
          </a:xfrm>
          <a:prstGeom prst="rect">
            <a:avLst/>
          </a:prstGeom>
        </p:spPr>
        <p:txBody>
          <a:bodyPr/>
          <a:lstStyle>
            <a:lvl1pPr marL="285750" indent="-28575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Blip>
                <a:blip r:embed="rId5"/>
              </a:buBlip>
              <a:defRPr sz="1400" kern="1200">
                <a:solidFill>
                  <a:srgbClr val="00242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dirty="0">
                <a:latin typeface="IBM Plex Sans" panose="020B0503050203000203" pitchFamily="34" charset="0"/>
              </a:rPr>
              <a:t>Rua Sousa Martins, nº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>
                <a:latin typeface="IBM Plex Sans" panose="020B0503050203000203" pitchFamily="34" charset="0"/>
              </a:rPr>
              <a:t>1050-218 Lisboa | Portugal </a:t>
            </a:r>
          </a:p>
        </p:txBody>
      </p:sp>
    </p:spTree>
    <p:extLst>
      <p:ext uri="{BB962C8B-B14F-4D97-AF65-F5344CB8AC3E}">
        <p14:creationId xmlns:p14="http://schemas.microsoft.com/office/powerpoint/2010/main" val="71700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32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DE7D3-0A3D-4427-9451-2D2A4276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44" y="2737296"/>
            <a:ext cx="5532854" cy="1325563"/>
          </a:xfrm>
        </p:spPr>
        <p:txBody>
          <a:bodyPr/>
          <a:lstStyle/>
          <a:p>
            <a:r>
              <a:rPr lang="fr-FR" dirty="0" err="1"/>
              <a:t>Java, API, Swagger e Boas Práticas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916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A491FC-A248-4800-A191-D5CCB814F1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6365E64-EF54-458F-ACE2-5653C5DD00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967190-B033-45BC-997C-6878B83D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 projeto</a:t>
            </a:r>
          </a:p>
        </p:txBody>
      </p:sp>
    </p:spTree>
    <p:extLst>
      <p:ext uri="{BB962C8B-B14F-4D97-AF65-F5344CB8AC3E}">
        <p14:creationId xmlns:p14="http://schemas.microsoft.com/office/powerpoint/2010/main" val="295523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D202A5B-9CB9-4875-8798-5CB4A7FB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b="1" sz="1800"/>
              <a:t>CRUD completo </a:t>
            </a:r>
            <a:r>
              <a:rPr sz="1800"/>
              <a:t>de carros: cor, marca, modelo e ano</a:t>
            </a:r>
            <a:endParaRPr lang="fr-FR"/>
          </a:p>
          <a:p>
            <a:pPr>
              <a:spcAft>
                <a:spcPts val="1000"/>
              </a:spcAft>
            </a:pPr>
            <a:r>
              <a:rPr b="1" sz="1800"/>
              <a:t>Arquitetura hexagonal </a:t>
            </a:r>
            <a:r>
              <a:rPr sz="1800"/>
              <a:t>com use cases, services, ports e adapters</a:t>
            </a:r>
          </a:p>
          <a:p>
            <a:pPr>
              <a:spcAft>
                <a:spcPts val="1000"/>
              </a:spcAft>
            </a:pPr>
            <a:r>
              <a:rPr b="1" sz="1800"/>
              <a:t>Banco H2 em memória </a:t>
            </a:r>
            <a:r>
              <a:rPr sz="1800"/>
              <a:t>que sobe com 1 carro de exemplo</a:t>
            </a:r>
          </a:p>
          <a:p>
            <a:pPr>
              <a:spcAft>
                <a:spcPts val="1000"/>
              </a:spcAft>
            </a:pPr>
            <a:r>
              <a:rPr b="1" sz="1800"/>
              <a:t>Swagger / OpenAPI </a:t>
            </a:r>
            <a:r>
              <a:rPr sz="1800"/>
              <a:t>documentando todos os endpoints</a:t>
            </a:r>
          </a:p>
          <a:p>
            <a:pPr>
              <a:spcAft>
                <a:spcPts val="1000"/>
              </a:spcAft>
            </a:pPr>
            <a:r>
              <a:rPr b="1" sz="1800"/>
              <a:t>100% de cobertura </a:t>
            </a:r>
            <a:r>
              <a:rPr sz="1800"/>
              <a:t>de testes medida com JaCoCo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448959-7CD3-45C0-8B67-17B17BBE5E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0000"/>
            <a:ext cx="27432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23034-1EF6-4EFB-ADA4-32FFF786A2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686176" y="6350000"/>
            <a:ext cx="218648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325BEC5-0205-4C89-8FB2-72C35A7B5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Microsserviço CRUD de carros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3E5DEC8-37CA-418A-A842-D959FCEE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car-service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6675120" y="914400"/>
            <a:ext cx="4846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1">
                <a:solidFill>
                  <a:srgbClr val="FFFFFF"/>
                </a:solidFill>
                <a:latin typeface="IBM Plex Sans"/>
              </a:rPr>
              <a:t>Stack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Java 21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Spring Boot 3.5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Maven (Wrapper)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H2 Database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springdoc-openapi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JUnit 5 + Mockito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JaCoCo</a:t>
            </a:r>
          </a:p>
        </p:txBody>
      </p:sp>
    </p:spTree>
    <p:extLst>
      <p:ext uri="{BB962C8B-B14F-4D97-AF65-F5344CB8AC3E}">
        <p14:creationId xmlns:p14="http://schemas.microsoft.com/office/powerpoint/2010/main" val="325059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520A6-0CFE-4FD8-A9C7-2447AECC5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B790D2-0175-4946-8DA1-E91EECF8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81A5BE-2EB4-4441-80D7-D83C3F32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Arquitetura hexagonal</a:t>
            </a:r>
          </a:p>
        </p:txBody>
      </p:sp>
    </p:spTree>
    <p:extLst>
      <p:ext uri="{BB962C8B-B14F-4D97-AF65-F5344CB8AC3E}">
        <p14:creationId xmlns:p14="http://schemas.microsoft.com/office/powerpoint/2010/main" val="390099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7DC14C9-7F67-4A7B-9522-DAA755A9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Portas e adaptadores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7DA683-B3A4-49B5-AFC3-3D70F9C3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07197E-08D2-44C3-A92B-7D074D04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69C449F-8429-4370-9543-1408615631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O núcleo da aplicação não conhece HTTP nem banco de dados</a:t>
            </a:r>
            <a:endParaRPr lang="fr-FR"/>
          </a:p>
        </p:txBody>
      </p:sp>
      <p:sp>
        <p:nvSpPr>
          <p:cNvPr id="15" name="Cliente"/>
          <p:cNvSpPr/>
          <p:nvPr/>
        </p:nvSpPr>
        <p:spPr>
          <a:xfrm>
            <a:off x="841248" y="2926079"/>
            <a:ext cx="1325880" cy="1097280"/>
          </a:xfrm>
          <a:prstGeom prst="roundRect">
            <a:avLst/>
          </a:prstGeom>
          <a:solidFill>
            <a:srgbClr val="0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IBM Plex Sans"/>
              </a:rPr>
              <a:t>Cliente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IBM Plex Sans"/>
              </a:rPr>
              <a:t>Insomnia / Swagger UI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67128" y="3474720"/>
            <a:ext cx="365760" cy="0"/>
          </a:xfrm>
          <a:prstGeom prst="line">
            <a:avLst/>
          </a:prstGeom>
          <a:ln w="25400">
            <a:solidFill>
              <a:srgbClr val="0024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dapter entrada"/>
          <p:cNvSpPr/>
          <p:nvPr/>
        </p:nvSpPr>
        <p:spPr>
          <a:xfrm>
            <a:off x="2532888" y="1828800"/>
            <a:ext cx="1965960" cy="3291840"/>
          </a:xfrm>
          <a:prstGeom prst="roundRect">
            <a:avLst/>
          </a:prstGeom>
          <a:solidFill>
            <a:srgbClr val="2D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IBM Plex Sans"/>
              </a:rPr>
              <a:t>Adapter de entrada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BM Plex Sans"/>
              </a:rPr>
              <a:t>REST</a:t>
            </a:r>
          </a:p>
          <a:p>
            <a:pPr algn="ctr"/>
            <a:r>
              <a:rPr sz="800" b="0">
                <a:solidFill>
                  <a:srgbClr val="00242C"/>
                </a:solidFill>
                <a:latin typeface="IBM Plex Sans"/>
              </a:rPr>
              <a:t> 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CarController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CarRequest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CarResponse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GlobalException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Handler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98848" y="3474720"/>
            <a:ext cx="365760" cy="0"/>
          </a:xfrm>
          <a:prstGeom prst="line">
            <a:avLst/>
          </a:prstGeom>
          <a:ln w="25400">
            <a:solidFill>
              <a:srgbClr val="0024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plicacao"/>
          <p:cNvSpPr/>
          <p:nvPr/>
        </p:nvSpPr>
        <p:spPr>
          <a:xfrm>
            <a:off x="4864608" y="1508760"/>
            <a:ext cx="3246120" cy="3931920"/>
          </a:xfrm>
          <a:prstGeom prst="hexagon">
            <a:avLst/>
          </a:prstGeom>
          <a:solidFill>
            <a:srgbClr val="A6D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00242C"/>
                </a:solidFill>
                <a:latin typeface="IBM Plex Sans"/>
              </a:rPr>
              <a:t>Aplicação</a:t>
            </a:r>
          </a:p>
          <a:p>
            <a:pPr algn="ctr"/>
            <a:r>
              <a:rPr sz="600" b="0">
                <a:solidFill>
                  <a:srgbClr val="00242C"/>
                </a:solidFill>
                <a:latin typeface="IBM Plex Sans"/>
              </a:rPr>
              <a:t> </a:t>
            </a:r>
          </a:p>
          <a:p>
            <a:pPr algn="ctr"/>
            <a:r>
              <a:rPr sz="1300" b="1">
                <a:solidFill>
                  <a:srgbClr val="00242C"/>
                </a:solidFill>
                <a:latin typeface="IBM Plex Sans"/>
              </a:rPr>
              <a:t>Use cases</a:t>
            </a:r>
          </a:p>
          <a:p>
            <a:pPr algn="ctr"/>
            <a:r>
              <a:rPr sz="1100" b="0">
                <a:solidFill>
                  <a:srgbClr val="4A5A60"/>
                </a:solidFill>
                <a:latin typeface="IBM Plex Sans"/>
              </a:rPr>
              <a:t>(portas de entrada)</a:t>
            </a:r>
          </a:p>
          <a:p>
            <a:pPr algn="ctr"/>
            <a:r>
              <a:rPr sz="1300" b="1">
                <a:solidFill>
                  <a:srgbClr val="00242C"/>
                </a:solidFill>
                <a:latin typeface="IBM Plex Sans"/>
              </a:rPr>
              <a:t>CarService</a:t>
            </a:r>
          </a:p>
          <a:p>
            <a:pPr algn="ctr"/>
            <a:r>
              <a:rPr sz="1300" b="1">
                <a:solidFill>
                  <a:srgbClr val="00242C"/>
                </a:solidFill>
                <a:latin typeface="IBM Plex Sans"/>
              </a:rPr>
              <a:t>CarRepositoryPort</a:t>
            </a:r>
          </a:p>
          <a:p>
            <a:pPr algn="ctr"/>
            <a:r>
              <a:rPr sz="1100" b="0">
                <a:solidFill>
                  <a:srgbClr val="4A5A60"/>
                </a:solidFill>
                <a:latin typeface="IBM Plex Sans"/>
              </a:rPr>
              <a:t>(porta de saída)</a:t>
            </a:r>
          </a:p>
          <a:p>
            <a:pPr algn="ctr"/>
            <a:r>
              <a:rPr sz="600" b="0">
                <a:solidFill>
                  <a:srgbClr val="00242C"/>
                </a:solidFill>
                <a:latin typeface="IBM Plex Sans"/>
              </a:rPr>
              <a:t> </a:t>
            </a:r>
          </a:p>
          <a:p>
            <a:pPr algn="ctr"/>
            <a:r>
              <a:rPr sz="1300" b="1">
                <a:solidFill>
                  <a:srgbClr val="E73E07"/>
                </a:solidFill>
                <a:latin typeface="IBM Plex Sans"/>
              </a:rPr>
              <a:t>Domínio: Car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10727" y="3474720"/>
            <a:ext cx="365761" cy="0"/>
          </a:xfrm>
          <a:prstGeom prst="line">
            <a:avLst/>
          </a:prstGeom>
          <a:ln w="25400">
            <a:solidFill>
              <a:srgbClr val="0024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dapter saida"/>
          <p:cNvSpPr/>
          <p:nvPr/>
        </p:nvSpPr>
        <p:spPr>
          <a:xfrm>
            <a:off x="8476488" y="1828800"/>
            <a:ext cx="1828800" cy="3291840"/>
          </a:xfrm>
          <a:prstGeom prst="roundRect">
            <a:avLst/>
          </a:prstGeom>
          <a:solidFill>
            <a:srgbClr val="2D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IBM Plex Sans"/>
              </a:rPr>
              <a:t>Adapter de saída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BM Plex Sans"/>
              </a:rPr>
              <a:t>JPA</a:t>
            </a:r>
          </a:p>
          <a:p>
            <a:pPr algn="ctr"/>
            <a:r>
              <a:rPr sz="800" b="0">
                <a:solidFill>
                  <a:srgbClr val="00242C"/>
                </a:solidFill>
                <a:latin typeface="IBM Plex Sans"/>
              </a:rPr>
              <a:t> 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CarPersistenceAdapter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CarJpaRepository</a:t>
            </a:r>
          </a:p>
          <a:p>
            <a:pPr algn="ctr"/>
            <a:r>
              <a:rPr sz="1100" b="0">
                <a:solidFill>
                  <a:srgbClr val="00242C"/>
                </a:solidFill>
                <a:latin typeface="IBM Plex Sans"/>
              </a:rPr>
              <a:t>CarEntity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05288" y="3474720"/>
            <a:ext cx="256032" cy="0"/>
          </a:xfrm>
          <a:prstGeom prst="line">
            <a:avLst/>
          </a:prstGeom>
          <a:ln w="25400">
            <a:solidFill>
              <a:srgbClr val="0024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H2"/>
          <p:cNvSpPr/>
          <p:nvPr/>
        </p:nvSpPr>
        <p:spPr>
          <a:xfrm>
            <a:off x="10561320" y="2880360"/>
            <a:ext cx="795528" cy="1188720"/>
          </a:xfrm>
          <a:prstGeom prst="can">
            <a:avLst/>
          </a:prstGeom>
          <a:solidFill>
            <a:srgbClr val="0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IBM Plex Sans"/>
              </a:rPr>
              <a:t>H2</a:t>
            </a:r>
          </a:p>
        </p:txBody>
      </p:sp>
      <p:sp>
        <p:nvSpPr>
          <p:cNvPr id="24" name="Legenda"/>
          <p:cNvSpPr txBox="1"/>
          <p:nvPr/>
        </p:nvSpPr>
        <p:spPr>
          <a:xfrm>
            <a:off x="841248" y="5623560"/>
            <a:ext cx="10515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4A5A60"/>
                </a:solidFill>
                <a:latin typeface="IBM Plex Sans"/>
              </a:rPr>
              <a:t>As dependências apontam sempre para dentro: adapters → aplicação → domínio.</a:t>
            </a:r>
          </a:p>
        </p:txBody>
      </p:sp>
    </p:spTree>
    <p:extLst>
      <p:ext uri="{BB962C8B-B14F-4D97-AF65-F5344CB8AC3E}">
        <p14:creationId xmlns:p14="http://schemas.microsoft.com/office/powerpoint/2010/main" val="82131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7DC14C9-7F67-4A7B-9522-DAA755A9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Organização dos pacotes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7DA683-B3A4-49B5-AFC3-3D70F9C3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07197E-08D2-44C3-A92B-7D074D04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69C449F-8429-4370-9543-1408615631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com.leowvazd.carservice</a:t>
            </a:r>
            <a:endParaRPr lang="fr-FR"/>
          </a:p>
        </p:txBody>
      </p:sp>
      <p:sp>
        <p:nvSpPr>
          <p:cNvPr id="15" name="Card domain"/>
          <p:cNvSpPr/>
          <p:nvPr/>
        </p:nvSpPr>
        <p:spPr>
          <a:xfrm>
            <a:off x="841248" y="160020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um domain"/>
          <p:cNvSpPr/>
          <p:nvPr/>
        </p:nvSpPr>
        <p:spPr>
          <a:xfrm>
            <a:off x="1115568" y="1874519"/>
            <a:ext cx="548640" cy="548640"/>
          </a:xfrm>
          <a:prstGeom prst="ellipse">
            <a:avLst/>
          </a:prstGeom>
          <a:solidFill>
            <a:srgbClr val="2D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1901952"/>
            <a:ext cx="21945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00242C"/>
                </a:solidFill>
                <a:latin typeface="IBM Plex San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51760"/>
            <a:ext cx="28346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Regras e entidades puras, sem Spring nem JPA.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749039"/>
            <a:ext cx="283464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model/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exception/</a:t>
            </a:r>
          </a:p>
        </p:txBody>
      </p:sp>
      <p:sp>
        <p:nvSpPr>
          <p:cNvPr id="20" name="Card application"/>
          <p:cNvSpPr/>
          <p:nvPr/>
        </p:nvSpPr>
        <p:spPr>
          <a:xfrm>
            <a:off x="4453128" y="160020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m application"/>
          <p:cNvSpPr/>
          <p:nvPr/>
        </p:nvSpPr>
        <p:spPr>
          <a:xfrm>
            <a:off x="4727448" y="1874519"/>
            <a:ext cx="548640" cy="548640"/>
          </a:xfrm>
          <a:prstGeom prst="ellipse">
            <a:avLst/>
          </a:prstGeom>
          <a:solidFill>
            <a:srgbClr val="0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1901952"/>
            <a:ext cx="21945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00242C"/>
                </a:solidFill>
                <a:latin typeface="IBM Plex Sans"/>
              </a:rPr>
              <a:t>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2651760"/>
            <a:ext cx="28346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Orquestra os casos de uso e define o que precisa do mundo externo.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749039"/>
            <a:ext cx="283464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usecases/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ports/out/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services/</a:t>
            </a:r>
          </a:p>
        </p:txBody>
      </p:sp>
      <p:sp>
        <p:nvSpPr>
          <p:cNvPr id="25" name="Card adapters"/>
          <p:cNvSpPr/>
          <p:nvPr/>
        </p:nvSpPr>
        <p:spPr>
          <a:xfrm>
            <a:off x="8065008" y="160020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um adapters"/>
          <p:cNvSpPr/>
          <p:nvPr/>
        </p:nvSpPr>
        <p:spPr>
          <a:xfrm>
            <a:off x="8339328" y="1874519"/>
            <a:ext cx="548640" cy="548640"/>
          </a:xfrm>
          <a:prstGeom prst="ellipse">
            <a:avLst/>
          </a:prstGeom>
          <a:solidFill>
            <a:srgbClr val="E73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1901952"/>
            <a:ext cx="21945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00242C"/>
                </a:solidFill>
                <a:latin typeface="IBM Plex Sans"/>
              </a:rPr>
              <a:t>adapters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651760"/>
            <a:ext cx="28346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Traduz HTTP e banco de dados para o núcleo.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749039"/>
            <a:ext cx="283464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inbound/rest/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outbound/persistence/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242C"/>
                </a:solidFill>
                <a:latin typeface="Courier New"/>
              </a:rPr>
              <a:t>config/</a:t>
            </a:r>
          </a:p>
        </p:txBody>
      </p:sp>
    </p:spTree>
    <p:extLst>
      <p:ext uri="{BB962C8B-B14F-4D97-AF65-F5344CB8AC3E}">
        <p14:creationId xmlns:p14="http://schemas.microsoft.com/office/powerpoint/2010/main" val="82131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520A6-0CFE-4FD8-A9C7-2447AECC5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B790D2-0175-4946-8DA1-E91EECF8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81A5BE-2EB4-4441-80D7-D83C3F32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API &amp; Swagger</a:t>
            </a:r>
          </a:p>
        </p:txBody>
      </p:sp>
    </p:spTree>
    <p:extLst>
      <p:ext uri="{BB962C8B-B14F-4D97-AF65-F5344CB8AC3E}">
        <p14:creationId xmlns:p14="http://schemas.microsoft.com/office/powerpoint/2010/main" val="147850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7DC14C9-7F67-4A7B-9522-DAA755A9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 CRUD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7DA683-B3A4-49B5-AFC3-3D70F9C3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07197E-08D2-44C3-A92B-7D074D04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69C449F-8429-4370-9543-1408615631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Base path: /api/v1/cars</a:t>
            </a:r>
            <a:endParaRPr lang="fr-FR"/>
          </a:p>
        </p:txBody>
      </p:sp>
      <p:graphicFrame>
        <p:nvGraphicFramePr>
          <p:cNvPr id="15" name="Tabela endpoints"/>
          <p:cNvGraphicFramePr>
            <a:graphicFrameLocks noGrp="1"/>
          </p:cNvGraphicFramePr>
          <p:nvPr/>
        </p:nvGraphicFramePr>
        <p:xfrm>
          <a:off x="841248" y="1600200"/>
          <a:ext cx="10515600" cy="301752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2377440"/>
                <a:gridCol w="3017520"/>
                <a:gridCol w="246888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BM Plex Sans"/>
                        </a:rPr>
                        <a:t>Método</a:t>
                      </a:r>
                    </a:p>
                  </a:txBody>
                  <a:tcPr anchor="ctr" marL="109728">
                    <a:solidFill>
                      <a:srgbClr val="0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BM Plex Sans"/>
                        </a:rPr>
                        <a:t>Rota</a:t>
                      </a:r>
                    </a:p>
                  </a:txBody>
                  <a:tcPr anchor="ctr" marL="109728">
                    <a:solidFill>
                      <a:srgbClr val="0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BM Plex Sans"/>
                        </a:rPr>
                        <a:t>Descrição</a:t>
                      </a:r>
                    </a:p>
                  </a:txBody>
                  <a:tcPr anchor="ctr" marL="109728">
                    <a:solidFill>
                      <a:srgbClr val="0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BM Plex Sans"/>
                        </a:rPr>
                        <a:t>Sucesso</a:t>
                      </a:r>
                    </a:p>
                  </a:txBody>
                  <a:tcPr anchor="ctr" marL="109728">
                    <a:solidFill>
                      <a:srgbClr val="0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BM Plex Sans"/>
                        </a:rPr>
                        <a:t>Erros</a:t>
                      </a:r>
                    </a:p>
                  </a:txBody>
                  <a:tcPr anchor="ctr" marL="109728">
                    <a:solidFill>
                      <a:srgbClr val="0024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B7BC"/>
                          </a:solidFill>
                          <a:latin typeface="IBM Plex Sans"/>
                        </a:rPr>
                        <a:t>POST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Courier New"/>
                        </a:rPr>
                        <a:t>/api/v1/cars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Cria um carro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201 Created + Location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400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42C"/>
                          </a:solidFill>
                          <a:latin typeface="IBM Plex Sans"/>
                        </a:rPr>
                        <a:t>GET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Courier New"/>
                        </a:rPr>
                        <a:t>/api/v1/cars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Lista todos os carros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200 OK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42C"/>
                          </a:solidFill>
                          <a:latin typeface="IBM Plex Sans"/>
                        </a:rPr>
                        <a:t>GET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Courier New"/>
                        </a:rPr>
                        <a:t>/api/v1/cars/{id}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Busca um carro pelo id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200 OK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404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73E07"/>
                          </a:solidFill>
                          <a:latin typeface="IBM Plex Sans"/>
                        </a:rPr>
                        <a:t>PUT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Courier New"/>
                        </a:rPr>
                        <a:t>/api/v1/cars/{id}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Atualiza um carro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200 OK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400, 404</a:t>
                      </a:r>
                    </a:p>
                  </a:txBody>
                  <a:tcPr anchor="ctr" marL="109728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73E07"/>
                          </a:solidFill>
                          <a:latin typeface="IBM Plex Sans"/>
                        </a:rPr>
                        <a:t>DELETE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Courier New"/>
                        </a:rPr>
                        <a:t>/api/v1/cars/{id}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Remove um carro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204 No Content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242C"/>
                          </a:solidFill>
                          <a:latin typeface="IBM Plex Sans"/>
                        </a:rPr>
                        <a:t>404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orpo exemplo"/>
          <p:cNvSpPr txBox="1"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0242C"/>
                </a:solidFill>
                <a:latin typeface="IBM Plex Sans"/>
              </a:rPr>
              <a:t>Corpo de POST/PUT:  </a:t>
            </a:r>
            <a:r>
              <a:rPr sz="1300" b="0">
                <a:solidFill>
                  <a:srgbClr val="00242C"/>
                </a:solidFill>
                <a:latin typeface="Courier New"/>
              </a:rPr>
              <a:t>{ "color": "Preto", "brand": "Honda", "model": "Civic", "year": 2024 }</a:t>
            </a:r>
          </a:p>
          <a:p>
            <a:pPr algn="l"/>
            <a:r>
              <a:rPr sz="1300" b="0">
                <a:solidFill>
                  <a:srgbClr val="4A5A60"/>
                </a:solidFill>
                <a:latin typeface="IBM Plex Sans"/>
              </a:rPr>
              <a:t>Erros seguem o padrão ProblemDetail (RFC 9457), com os campos inválidos em "errors".</a:t>
            </a:r>
          </a:p>
        </p:txBody>
      </p:sp>
    </p:spTree>
    <p:extLst>
      <p:ext uri="{BB962C8B-B14F-4D97-AF65-F5344CB8AC3E}">
        <p14:creationId xmlns:p14="http://schemas.microsoft.com/office/powerpoint/2010/main" val="821311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D202A5B-9CB9-4875-8798-5CB4A7FB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b="1" sz="1600"/>
              <a:t>springdoc-openapi </a:t>
            </a:r>
            <a:r>
              <a:rPr sz="1600"/>
              <a:t>lê os controllers e gera a especificação</a:t>
            </a:r>
            <a:endParaRPr lang="fr-FR"/>
          </a:p>
          <a:p>
            <a:pPr>
              <a:spcAft>
                <a:spcPts val="1000"/>
              </a:spcAft>
            </a:pPr>
            <a:r>
              <a:rPr b="1" sz="1600"/>
              <a:t>@Tag, @Operation, @ApiResponse </a:t>
            </a:r>
            <a:r>
              <a:rPr sz="1600"/>
              <a:t>descrevem cada operação</a:t>
            </a:r>
          </a:p>
          <a:p>
            <a:pPr>
              <a:spcAft>
                <a:spcPts val="1000"/>
              </a:spcAft>
            </a:pPr>
            <a:r>
              <a:rPr b="1" sz="1600"/>
              <a:t>@Schema(example) </a:t>
            </a:r>
            <a:r>
              <a:rPr sz="1600"/>
              <a:t>preenche exemplos nos DTOs</a:t>
            </a:r>
          </a:p>
          <a:p>
            <a:pPr>
              <a:spcAft>
                <a:spcPts val="1000"/>
              </a:spcAft>
            </a:pPr>
            <a:r>
              <a:rPr b="1" sz="1600"/>
              <a:t>Bean Validation </a:t>
            </a:r>
            <a:r>
              <a:rPr sz="1600"/>
              <a:t>vira restrição no contrato</a:t>
            </a:r>
          </a:p>
          <a:p>
            <a:pPr>
              <a:spcAft>
                <a:spcPts val="1000"/>
              </a:spcAft>
            </a:pPr>
            <a:r>
              <a:rPr b="1" sz="1600"/>
              <a:t>Especificação exportada </a:t>
            </a:r>
            <a:r>
              <a:rPr sz="1600"/>
              <a:t>em docs/openapi.json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448959-7CD3-45C0-8B67-17B17BBE5E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0000"/>
            <a:ext cx="27432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23034-1EF6-4EFB-ADA4-32FFF786A2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686176" y="6350000"/>
            <a:ext cx="218648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325BEC5-0205-4C89-8FB2-72C35A7B5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Documentação gerada a partir do código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3E5DEC8-37CA-418A-A842-D959FCEE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Swagger / OpenAPI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6675120" y="914400"/>
            <a:ext cx="4846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1">
                <a:solidFill>
                  <a:srgbClr val="FFFFFF"/>
                </a:solidFill>
                <a:latin typeface="IBM Plex Sans"/>
              </a:rPr>
              <a:t>Onde acessar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latin typeface="IBM Plex Sans"/>
              </a:rPr>
              <a:t>Swagger UI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00242C"/>
                </a:solidFill>
                <a:latin typeface="Courier New"/>
              </a:rPr>
              <a:t>localhost:8080/swagger-ui.html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latin typeface="IBM Plex Sans"/>
              </a:rPr>
              <a:t>OpenAPI JSON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00242C"/>
                </a:solidFill>
                <a:latin typeface="Courier New"/>
              </a:rPr>
              <a:t>localhost:8080/v3/api-docs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latin typeface="IBM Plex Sans"/>
              </a:rPr>
              <a:t>H2 Console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00242C"/>
                </a:solidFill>
                <a:latin typeface="Courier New"/>
              </a:rPr>
              <a:t>localhost:8080/h2-console</a:t>
            </a:r>
          </a:p>
        </p:txBody>
      </p:sp>
    </p:spTree>
    <p:extLst>
      <p:ext uri="{BB962C8B-B14F-4D97-AF65-F5344CB8AC3E}">
        <p14:creationId xmlns:p14="http://schemas.microsoft.com/office/powerpoint/2010/main" val="325059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C0F2AE-51AB-4C63-A8FD-20620FC2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8DD49-7374-4680-9540-E85164E6801D}" type="slidenum">
              <a:rPr lang="fr-FR" smtClean="0"/>
              <a:t>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9AA983-7116-4F9A-AD80-BC0B6D40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436AA7-A653-4852-806F-EED25D39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pt-PT" dirty="0"/>
              <a:t>Testes &amp; boas práticas</a:t>
            </a:r>
          </a:p>
        </p:txBody>
      </p:sp>
    </p:spTree>
    <p:extLst>
      <p:ext uri="{BB962C8B-B14F-4D97-AF65-F5344CB8AC3E}">
        <p14:creationId xmlns:p14="http://schemas.microsoft.com/office/powerpoint/2010/main" val="372464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D202A5B-9CB9-4875-8798-5CB4A7FB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b="1" sz="1600"/>
              <a:t>Domínio: </a:t>
            </a:r>
            <a:r>
              <a:rPr sz="1600"/>
              <a:t>teste unitário puro do record Car</a:t>
            </a:r>
            <a:endParaRPr lang="fr-FR"/>
          </a:p>
          <a:p>
            <a:pPr>
              <a:spcAft>
                <a:spcPts val="1000"/>
              </a:spcAft>
            </a:pPr>
            <a:r>
              <a:rPr b="1" sz="1600"/>
              <a:t>Service: </a:t>
            </a:r>
            <a:r>
              <a:rPr sz="1600"/>
              <a:t>JUnit 5 + Mockito sobre a porta de saída</a:t>
            </a:r>
          </a:p>
          <a:p>
            <a:pPr>
              <a:spcAft>
                <a:spcPts val="1000"/>
              </a:spcAft>
            </a:pPr>
            <a:r>
              <a:rPr b="1" sz="1600"/>
              <a:t>Persistência: </a:t>
            </a:r>
            <a:r>
              <a:rPr sz="1600"/>
              <a:t>adapter testado com o repositório mockado</a:t>
            </a:r>
          </a:p>
          <a:p>
            <a:pPr>
              <a:spcAft>
                <a:spcPts val="1000"/>
              </a:spcAft>
            </a:pPr>
            <a:r>
              <a:rPr b="1" sz="1600"/>
              <a:t>REST: </a:t>
            </a:r>
            <a:r>
              <a:rPr sz="1600"/>
              <a:t>@WebMvcTest com use cases mockados</a:t>
            </a:r>
          </a:p>
          <a:p>
            <a:pPr>
              <a:spcAft>
                <a:spcPts val="1000"/>
              </a:spcAft>
            </a:pPr>
            <a:r>
              <a:rPr b="1" sz="1600"/>
              <a:t>Integração: </a:t>
            </a:r>
            <a:r>
              <a:rPr sz="1600"/>
              <a:t>@SpringBootTest com H2 e Swagger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448959-7CD3-45C0-8B67-17B17BBE5E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0000"/>
            <a:ext cx="27432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23034-1EF6-4EFB-ADA4-32FFF786A2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686176" y="6350000"/>
            <a:ext cx="218648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325BEC5-0205-4C89-8FB2-72C35A7B5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Um teste para cada camada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3E5DEC8-37CA-418A-A842-D959FCEE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 e cobertura</a:t>
            </a:r>
            <a:endParaRPr lang="fr-FR"/>
          </a:p>
        </p:txBody>
      </p:sp>
      <p:sp>
        <p:nvSpPr>
          <p:cNvPr id="10" name="Stat cobertura"/>
          <p:cNvSpPr txBox="1"/>
          <p:nvPr/>
        </p:nvSpPr>
        <p:spPr>
          <a:xfrm>
            <a:off x="6675120" y="1188720"/>
            <a:ext cx="48463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BM Plex Sans"/>
              </a:rPr>
              <a:t>100%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6675120" y="2697480"/>
            <a:ext cx="4846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00242C"/>
                </a:solidFill>
                <a:latin typeface="IBM Plex Sans"/>
              </a:rPr>
              <a:t>de cobertura JaCoCo em instruções, branches e linhas</a:t>
            </a:r>
          </a:p>
        </p:txBody>
      </p:sp>
      <p:sp>
        <p:nvSpPr>
          <p:cNvPr id="12" name="Stat testes"/>
          <p:cNvSpPr txBox="1"/>
          <p:nvPr/>
        </p:nvSpPr>
        <p:spPr>
          <a:xfrm>
            <a:off x="6675120" y="3657600"/>
            <a:ext cx="48463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BM Plex Sans"/>
              </a:rPr>
              <a:t>27</a:t>
            </a:r>
            <a:r>
              <a:rPr sz="1800" b="0">
                <a:solidFill>
                  <a:srgbClr val="00242C"/>
                </a:solidFill>
                <a:latin typeface="IBM Plex Sans"/>
              </a:rPr>
              <a:t>  testes</a:t>
            </a:r>
          </a:p>
        </p:txBody>
      </p:sp>
      <p:sp>
        <p:nvSpPr>
          <p:cNvPr id="13" name="Gate"/>
          <p:cNvSpPr txBox="1"/>
          <p:nvPr/>
        </p:nvSpPr>
        <p:spPr>
          <a:xfrm>
            <a:off x="6675120" y="4617720"/>
            <a:ext cx="48463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BM Plex Sans"/>
              </a:rPr>
              <a:t>./mvnw verify falha se a cobertura cair abaixo de 100%</a:t>
            </a:r>
          </a:p>
        </p:txBody>
      </p:sp>
    </p:spTree>
    <p:extLst>
      <p:ext uri="{BB962C8B-B14F-4D97-AF65-F5344CB8AC3E}">
        <p14:creationId xmlns:p14="http://schemas.microsoft.com/office/powerpoint/2010/main" val="3250598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7DC14C9-7F67-4A7B-9522-DAA755A9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aplicadas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7DA683-B3A4-49B5-AFC3-3D70F9C3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07197E-08D2-44C3-A92B-7D074D04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69C449F-8429-4370-9543-1408615631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O que o projeto demonstra</a:t>
            </a:r>
            <a:endParaRPr lang="fr-FR"/>
          </a:p>
        </p:txBody>
      </p:sp>
      <p:sp>
        <p:nvSpPr>
          <p:cNvPr id="15" name="Pratica 1"/>
          <p:cNvSpPr/>
          <p:nvPr/>
        </p:nvSpPr>
        <p:spPr>
          <a:xfrm>
            <a:off x="841248" y="1508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arcador 1"/>
          <p:cNvSpPr/>
          <p:nvPr/>
        </p:nvSpPr>
        <p:spPr>
          <a:xfrm>
            <a:off x="1115568" y="1783080"/>
            <a:ext cx="365760" cy="365760"/>
          </a:xfrm>
          <a:prstGeom prst="ellipse">
            <a:avLst/>
          </a:prstGeom>
          <a:solidFill>
            <a:srgbClr val="2D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8488" y="1709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Domínio isolado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377439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Car é um record sem dependência de Spring ou JPA.</a:t>
            </a:r>
          </a:p>
        </p:txBody>
      </p:sp>
      <p:sp>
        <p:nvSpPr>
          <p:cNvPr id="19" name="Pratica 2"/>
          <p:cNvSpPr/>
          <p:nvPr/>
        </p:nvSpPr>
        <p:spPr>
          <a:xfrm>
            <a:off x="4453128" y="1508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rcador 2"/>
          <p:cNvSpPr/>
          <p:nvPr/>
        </p:nvSpPr>
        <p:spPr>
          <a:xfrm>
            <a:off x="4727448" y="1783080"/>
            <a:ext cx="365760" cy="365760"/>
          </a:xfrm>
          <a:prstGeom prst="ellipse">
            <a:avLst/>
          </a:prstGeom>
          <a:solidFill>
            <a:srgbClr val="0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1709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DTOs na borda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2377439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Request/Response separados do domínio e da entidade.</a:t>
            </a:r>
          </a:p>
        </p:txBody>
      </p:sp>
      <p:sp>
        <p:nvSpPr>
          <p:cNvPr id="23" name="Pratica 3"/>
          <p:cNvSpPr/>
          <p:nvPr/>
        </p:nvSpPr>
        <p:spPr>
          <a:xfrm>
            <a:off x="8065008" y="1508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arcador 3"/>
          <p:cNvSpPr/>
          <p:nvPr/>
        </p:nvSpPr>
        <p:spPr>
          <a:xfrm>
            <a:off x="8339328" y="1783080"/>
            <a:ext cx="365760" cy="365760"/>
          </a:xfrm>
          <a:prstGeom prst="ellipse">
            <a:avLst/>
          </a:prstGeom>
          <a:solidFill>
            <a:srgbClr val="E73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1709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Validação declarativa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377439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@NotBlank, @Min e @Max retornam 400 automaticamente.</a:t>
            </a:r>
          </a:p>
        </p:txBody>
      </p:sp>
      <p:sp>
        <p:nvSpPr>
          <p:cNvPr id="27" name="Pratica 4"/>
          <p:cNvSpPr/>
          <p:nvPr/>
        </p:nvSpPr>
        <p:spPr>
          <a:xfrm>
            <a:off x="841248" y="3794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arcador 4"/>
          <p:cNvSpPr/>
          <p:nvPr/>
        </p:nvSpPr>
        <p:spPr>
          <a:xfrm>
            <a:off x="1115568" y="4069080"/>
            <a:ext cx="365760" cy="365760"/>
          </a:xfrm>
          <a:prstGeom prst="ellipse">
            <a:avLst/>
          </a:prstGeom>
          <a:solidFill>
            <a:srgbClr val="2D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18488" y="3995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Erros padronizados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66344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ProblemDetail para 400 e 404, com mensagem clara.</a:t>
            </a:r>
          </a:p>
        </p:txBody>
      </p:sp>
      <p:sp>
        <p:nvSpPr>
          <p:cNvPr id="31" name="Pratica 5"/>
          <p:cNvSpPr/>
          <p:nvPr/>
        </p:nvSpPr>
        <p:spPr>
          <a:xfrm>
            <a:off x="4453128" y="3794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arcador 5"/>
          <p:cNvSpPr/>
          <p:nvPr/>
        </p:nvSpPr>
        <p:spPr>
          <a:xfrm>
            <a:off x="4727448" y="4069080"/>
            <a:ext cx="365760" cy="365760"/>
          </a:xfrm>
          <a:prstGeom prst="ellipse">
            <a:avLst/>
          </a:prstGeom>
          <a:solidFill>
            <a:srgbClr val="0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0368" y="3995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REST semântico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66344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201 + Location, 204 no DELETE, versão em /api/v1.</a:t>
            </a:r>
          </a:p>
        </p:txBody>
      </p:sp>
      <p:sp>
        <p:nvSpPr>
          <p:cNvPr id="35" name="Pratica 6"/>
          <p:cNvSpPr/>
          <p:nvPr/>
        </p:nvSpPr>
        <p:spPr>
          <a:xfrm>
            <a:off x="8065008" y="37947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arcador 6"/>
          <p:cNvSpPr/>
          <p:nvPr/>
        </p:nvSpPr>
        <p:spPr>
          <a:xfrm>
            <a:off x="8339328" y="4069080"/>
            <a:ext cx="365760" cy="365760"/>
          </a:xfrm>
          <a:prstGeom prst="ellipse">
            <a:avLst/>
          </a:prstGeom>
          <a:solidFill>
            <a:srgbClr val="E73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42248" y="3995928"/>
            <a:ext cx="237744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0242C"/>
                </a:solidFill>
                <a:latin typeface="IBM Plex Sans"/>
              </a:rPr>
              <a:t>Build reprodutível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466344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4A5A60"/>
                </a:solidFill>
                <a:latin typeface="IBM Plex Sans"/>
              </a:rPr>
              <a:t>Maven Wrapper e gate de 100% de cobertura no verify.</a:t>
            </a:r>
          </a:p>
        </p:txBody>
      </p:sp>
    </p:spTree>
    <p:extLst>
      <p:ext uri="{BB962C8B-B14F-4D97-AF65-F5344CB8AC3E}">
        <p14:creationId xmlns:p14="http://schemas.microsoft.com/office/powerpoint/2010/main" val="82131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3F27363-DF81-455D-808E-84523D06F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b="1" sz="1800"/>
              <a:t>Clonar</a:t>
            </a:r>
            <a:endParaRPr lang="fr-FR"/>
          </a:p>
          <a:p>
            <a:pPr marL="0" indent="0">
              <a:spcAft>
                <a:spcPts val="1400"/>
              </a:spcAft>
              <a:buNone/>
            </a:pPr>
            <a:r>
              <a:rPr sz="1400">
                <a:solidFill>
                  <a:srgbClr val="4A5A60"/>
                </a:solidFill>
                <a:latin typeface="Courier New"/>
              </a:rPr>
              <a:t>git clone https://github.com/leowvazd/car-service</a:t>
            </a:r>
          </a:p>
          <a:p>
            <a:pPr>
              <a:spcAft>
                <a:spcPts val="200"/>
              </a:spcAft>
            </a:pPr>
            <a:r>
              <a:rPr b="1" sz="1800"/>
              <a:t>Subir a API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400">
                <a:solidFill>
                  <a:srgbClr val="4A5A60"/>
                </a:solidFill>
                <a:latin typeface="Courier New"/>
              </a:rPr>
              <a:t>./mvnw spring-boot:run</a:t>
            </a:r>
          </a:p>
          <a:p>
            <a:pPr>
              <a:spcAft>
                <a:spcPts val="200"/>
              </a:spcAft>
            </a:pPr>
            <a:r>
              <a:rPr b="1" sz="1800"/>
              <a:t>Testes + relatório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400">
                <a:solidFill>
                  <a:srgbClr val="4A5A60"/>
                </a:solidFill>
                <a:latin typeface="Courier New"/>
              </a:rPr>
              <a:t>./mvnw verify  →  target/site/jacoco/index.html</a:t>
            </a:r>
          </a:p>
          <a:p>
            <a:pPr>
              <a:spcAft>
                <a:spcPts val="200"/>
              </a:spcAft>
            </a:pPr>
            <a:r>
              <a:rPr b="1" sz="1800"/>
              <a:t>Insomnia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400">
                <a:solidFill>
                  <a:srgbClr val="4A5A60"/>
                </a:solidFill>
                <a:latin typeface="Courier New"/>
              </a:rPr>
              <a:t>importar insomnia/car-service-collection.json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8269E7-B6CB-4B00-8B32-AA73CCB82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0000"/>
            <a:ext cx="4114800" cy="365125"/>
          </a:xfrm>
        </p:spPr>
        <p:txBody>
          <a:bodyPr/>
          <a:lstStyle/>
          <a:p>
            <a:r>
              <a:rPr lang="fr-FR">
                <a:latin typeface="IBM Plex Sans"/>
              </a:rPr>
              <a:t>MoOngy 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98A0C-3B7E-4EAD-9A8B-8E4E63CFB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5875" y="6350000"/>
            <a:ext cx="2743200" cy="365125"/>
          </a:xfrm>
        </p:spPr>
        <p:txBody>
          <a:bodyPr/>
          <a:lstStyle/>
          <a:p>
            <a:fld id="{5A070894-A539-4611-80D5-A6E57CD7A11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530E5196-F389-4B2B-B113-332E00D0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executar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3EAFD6A-F0ED-4D9E-915C-C41044EB9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github.com/leowvazd/car-service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0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186650"/>
      </p:ext>
    </p:extLst>
  </p:cSld>
  <p:clrMapOvr>
    <a:masterClrMapping/>
  </p:clrMapOvr>
</p:sld>
</file>

<file path=ppt/theme/theme1.xml><?xml version="1.0" encoding="utf-8"?>
<a:theme xmlns:a="http://schemas.openxmlformats.org/drawingml/2006/main" name="1. Intro logo">
  <a:themeElements>
    <a:clrScheme name="MoOngy">
      <a:dk1>
        <a:srgbClr val="00242C"/>
      </a:dk1>
      <a:lt1>
        <a:sysClr val="window" lastClr="FFFFFF"/>
      </a:lt1>
      <a:dk2>
        <a:srgbClr val="2DB7BC"/>
      </a:dk2>
      <a:lt2>
        <a:srgbClr val="F2F2F2"/>
      </a:lt2>
      <a:accent1>
        <a:srgbClr val="E73E07"/>
      </a:accent1>
      <a:accent2>
        <a:srgbClr val="A5D0D1"/>
      </a:accent2>
      <a:accent3>
        <a:srgbClr val="2DB7BC"/>
      </a:accent3>
      <a:accent4>
        <a:srgbClr val="00242C"/>
      </a:accent4>
      <a:accent5>
        <a:srgbClr val="F2F2F2"/>
      </a:accent5>
      <a:accent6>
        <a:srgbClr val="FFFFFF"/>
      </a:accent6>
      <a:hlink>
        <a:srgbClr val="E73E07"/>
      </a:hlink>
      <a:folHlink>
        <a:srgbClr val="E73E0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Titre">
  <a:themeElements>
    <a:clrScheme name="MoOngy">
      <a:dk1>
        <a:srgbClr val="00242C"/>
      </a:dk1>
      <a:lt1>
        <a:sysClr val="window" lastClr="FFFFFF"/>
      </a:lt1>
      <a:dk2>
        <a:srgbClr val="2DB7BC"/>
      </a:dk2>
      <a:lt2>
        <a:srgbClr val="F2F2F2"/>
      </a:lt2>
      <a:accent1>
        <a:srgbClr val="E73E07"/>
      </a:accent1>
      <a:accent2>
        <a:srgbClr val="A5D0D1"/>
      </a:accent2>
      <a:accent3>
        <a:srgbClr val="2DB7BC"/>
      </a:accent3>
      <a:accent4>
        <a:srgbClr val="00242C"/>
      </a:accent4>
      <a:accent5>
        <a:srgbClr val="F2F2F2"/>
      </a:accent5>
      <a:accent6>
        <a:srgbClr val="FFFFFF"/>
      </a:accent6>
      <a:hlink>
        <a:srgbClr val="E73E07"/>
      </a:hlink>
      <a:folHlink>
        <a:srgbClr val="E73E0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Tex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Intertitr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F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d274bc-2e17-4b17-b541-a254e78707ec">
      <Terms xmlns="http://schemas.microsoft.com/office/infopath/2007/PartnerControls"/>
    </lcf76f155ced4ddcb4097134ff3c332f>
    <TaxCatchAll xmlns="212466f0-2dc4-47e5-909e-c7d155a0ce1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0B7FF069843845A5EDB302EC23D245" ma:contentTypeVersion="18" ma:contentTypeDescription="Create a new document." ma:contentTypeScope="" ma:versionID="9df3ef6a7447340c00e997365e775cb7">
  <xsd:schema xmlns:xsd="http://www.w3.org/2001/XMLSchema" xmlns:xs="http://www.w3.org/2001/XMLSchema" xmlns:p="http://schemas.microsoft.com/office/2006/metadata/properties" xmlns:ns2="212466f0-2dc4-47e5-909e-c7d155a0ce1a" xmlns:ns3="8ad274bc-2e17-4b17-b541-a254e78707ec" targetNamespace="http://schemas.microsoft.com/office/2006/metadata/properties" ma:root="true" ma:fieldsID="ff24ddb4aed8d52231028e89332f9515" ns2:_="" ns3:_="">
    <xsd:import namespace="212466f0-2dc4-47e5-909e-c7d155a0ce1a"/>
    <xsd:import namespace="8ad274bc-2e17-4b17-b541-a254e78707e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466f0-2dc4-47e5-909e-c7d155a0ce1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5f5e7-6f64-4612-a7da-095c0794f67e}" ma:internalName="TaxCatchAll" ma:showField="CatchAllData" ma:web="212466f0-2dc4-47e5-909e-c7d155a0ce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274bc-2e17-4b17-b541-a254e78707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5fa9605-d49a-431b-975d-643c3facba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5971E8-67FD-4DB4-8081-FF5B53CCF34B}">
  <ds:schemaRefs>
    <ds:schemaRef ds:uri="http://schemas.microsoft.com/office/2006/metadata/properties"/>
    <ds:schemaRef ds:uri="http://schemas.microsoft.com/office/infopath/2007/PartnerControls"/>
    <ds:schemaRef ds:uri="8ad274bc-2e17-4b17-b541-a254e78707ec"/>
    <ds:schemaRef ds:uri="212466f0-2dc4-47e5-909e-c7d155a0ce1a"/>
  </ds:schemaRefs>
</ds:datastoreItem>
</file>

<file path=customXml/itemProps2.xml><?xml version="1.0" encoding="utf-8"?>
<ds:datastoreItem xmlns:ds="http://schemas.openxmlformats.org/officeDocument/2006/customXml" ds:itemID="{0CFAB290-2FF3-4170-BAA8-24F2D247A4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F3AB3A-FB4E-4FA2-A6D6-23648A2E3B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2466f0-2dc4-47e5-909e-c7d155a0ce1a"/>
    <ds:schemaRef ds:uri="8ad274bc-2e17-4b17-b541-a254e78707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1. Intro logo</vt:lpstr>
      <vt:lpstr>2. Titre</vt:lpstr>
      <vt:lpstr>3. Textes</vt:lpstr>
      <vt:lpstr>4. Intertitres</vt:lpstr>
      <vt:lpstr>5. Fin</vt:lpstr>
      <vt:lpstr>PowerPoint Presentation</vt:lpstr>
      <vt:lpstr>Título</vt:lpstr>
      <vt:lpstr>Separador </vt:lpstr>
      <vt:lpstr>Separador</vt:lpstr>
      <vt:lpstr>Separador</vt:lpstr>
      <vt:lpstr>Separador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Sarah PONTE</dc:creator>
  <cp:lastModifiedBy>Rita Costa</cp:lastModifiedBy>
  <cp:revision>35</cp:revision>
  <dcterms:created xsi:type="dcterms:W3CDTF">2021-04-13T06:24:12Z</dcterms:created>
  <dcterms:modified xsi:type="dcterms:W3CDTF">2026-10-21T10:47:05Z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0x010100F20B7FF069843845A5EDB302EC23D245</vt:lpwstr>
  </property>
</Properties>
</file>